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7"/>
    </p:embeddedFont>
    <p:embeddedFont>
      <p:font typeface="Instrument Sans SemiBold" panose="020B060402020202020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086FA-C5F6-40FA-BD00-C4AF1A65F035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56906-C67B-4694-AD72-5D631CCF4DF3}" type="slidenum">
              <a:rPr lang="ru-RU" smtClean="0"/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8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25810"/>
            <a:ext cx="4722763" cy="17719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SeniorShop — демонстрация ООП в реальном бизнес-приложении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110359"/>
            <a:ext cx="4722763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Краткая демонстрационная система, иллюстрирующая применение ключевых принципов объектно‑ориентированного программирования (C++20) для управления складом, продажами, поставками, пользователями и отчётностью.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3292525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Цель проекта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84362"/>
            <a:ext cx="815176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Показать, как принципы ООП (инкапсуляция, наследование, полиморфизм, абстракция) превращают набор требований бизнеса в поддерживаемую, расширяемую и тестируемую систему. Аудитория: разработчики и студенты с базовыми знаниями ООП и C++.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24273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070795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Инкапсуляция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377306"/>
            <a:ext cx="232968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Скрытие внутренней логики классов (Storage, Product, AuthSystemUser) и чёткие публичные интерфейсы.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924273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7122" y="2070795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Наследование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7122" y="2377306"/>
            <a:ext cx="232968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Иерархия пользователей: SuperAdmin ← Admin ← RegularUser для разделения прав и поведения.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1924273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1605" y="2070795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Полиморфизм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1605" y="2377306"/>
            <a:ext cx="232968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Виртуальные методы и переопределение (например, методы авторизации и логирования для разных ролей).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572842"/>
            <a:ext cx="8151688" cy="105318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640" y="3719364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Абстракция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640" y="4025875"/>
            <a:ext cx="785864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Абстрактные базовые классы для сервисов (ISaleService, IStorage) упрощают тестирование и заменяемость реализаций.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60265"/>
            <a:ext cx="5440561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Технологический стек и требования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327225"/>
            <a:ext cx="815176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C++ (основной язык) — стандарт C++20 (std::format, улучшения chrono)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CMake — кроссплатформенная система сборки (Linux, Windows)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Компиляторы: g++ и MSVC (поддержка компиляции под обе ОС)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ОС: Linux и Windows (другие не поддерживаются)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99892" y="1335063"/>
            <a:ext cx="4701927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Управление складом (Storage)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831181"/>
            <a:ext cx="5209877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Storage — центральный класс для операций над товарами: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185541"/>
            <a:ext cx="4752677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Добавление товара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Изменение цены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Списание и удаление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Изменение/пополнение по артикулу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3369022"/>
            <a:ext cx="475267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— структура с полями: название, артикул, поставщик, категория, цена, количество, метаданные.</a:t>
            </a:r>
            <a:endParaRPr lang="en-US" sz="1100" dirty="0"/>
          </a:p>
        </p:txBody>
      </p:sp>
      <p:pic>
        <p:nvPicPr>
          <p:cNvPr id="2050" name="Picture 2" descr="Система управления складом, лучшие решения управления складом: возможности  автоматизации – «Мое Дело»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31" y="1713085"/>
            <a:ext cx="3053136" cy="1717329"/>
          </a:xfrm>
          <a:prstGeom prst="roundRect">
            <a:avLst>
              <a:gd name="adj" fmla="val 4659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9076"/>
            <a:ext cx="5308178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Поставки и работа с поставщиками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56954"/>
            <a:ext cx="752400" cy="4650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056954"/>
            <a:ext cx="166821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SupplyManager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363465"/>
            <a:ext cx="1668214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Оркестрация поставок: создание поставок, валидация приходных накладных, обновление остатков.</a:t>
            </a:r>
            <a:endParaRPr lang="en-US" sz="110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2"/>
          <a:srcRect l="133" r="-133"/>
          <a:stretch>
            <a:fillRect/>
          </a:stretch>
        </p:blipFill>
        <p:spPr>
          <a:xfrm>
            <a:off x="3273774" y="2045771"/>
            <a:ext cx="752399" cy="465277"/>
          </a:xfrm>
          <a:prstGeom prst="roundRect">
            <a:avLst>
              <a:gd name="adj" fmla="val 10014"/>
            </a:avLst>
          </a:prstGeom>
          <a:effectLst>
            <a:softEdge rad="0"/>
          </a:effectLst>
        </p:spPr>
      </p:pic>
      <p:sp>
        <p:nvSpPr>
          <p:cNvPr id="7" name="Text 3"/>
          <p:cNvSpPr/>
          <p:nvPr/>
        </p:nvSpPr>
        <p:spPr>
          <a:xfrm>
            <a:off x="4203353" y="2056954"/>
            <a:ext cx="166821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SupplierManager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363465"/>
            <a:ext cx="1668214" cy="13608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Управление карточками поставщиков: контакты, рейтинги, условия оплаты, история поставок.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056954"/>
            <a:ext cx="753740" cy="4658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056954"/>
            <a:ext cx="166821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Supply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363465"/>
            <a:ext cx="1668214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Модель поставки: позиции, количество, цены по поставке, статус (ожидается/принято).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24796" y="888504"/>
            <a:ext cx="4124846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Продажи, корзина и акции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324796" y="1384622"/>
            <a:ext cx="478497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компоненты: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24796" y="1738982"/>
            <a:ext cx="4327773" cy="15095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SaleService — бизнес‑логика для корзины и расчёта скидок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SaleController — контроллеры операций: оплата, создание заказа, возвраты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Cart / CartItem — модели корзины и позиций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SellActiv — система акций и правил применения скидок (сложные условия, ограниченные по времени)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324796" y="3408015"/>
            <a:ext cx="4327773" cy="829196"/>
          </a:xfrm>
          <a:prstGeom prst="roundRect">
            <a:avLst>
              <a:gd name="adj" fmla="val 7181"/>
            </a:avLst>
          </a:prstGeom>
          <a:solidFill>
            <a:srgbClr val="25252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6555" y="3623072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85494" y="3585195"/>
            <a:ext cx="372531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Реализация скидок использует шаблон «Правило» (Strategy) для гибкой комбинации промо‑условий.</a:t>
            </a:r>
            <a:endParaRPr lang="en-US" sz="11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632023"/>
            <a:ext cx="3478039" cy="1879454"/>
          </a:xfrm>
          <a:prstGeom prst="roundRect">
            <a:avLst>
              <a:gd name="adj" fmla="val 2477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99008"/>
            <a:ext cx="5120357" cy="315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Аутентификация, роли и логирование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441871" y="1072604"/>
            <a:ext cx="1535460" cy="2267322"/>
          </a:xfrm>
          <a:prstGeom prst="roundRect">
            <a:avLst>
              <a:gd name="adj" fmla="val 4466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71" y="1058317"/>
            <a:ext cx="1535460" cy="571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17" y="883221"/>
            <a:ext cx="378768" cy="37876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33847" y="1125736"/>
            <a:ext cx="151507" cy="1893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3"/>
          <p:cNvSpPr/>
          <p:nvPr/>
        </p:nvSpPr>
        <p:spPr>
          <a:xfrm>
            <a:off x="582364" y="1388194"/>
            <a:ext cx="1254472" cy="3945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AuthSystemUser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82364" y="1850157"/>
            <a:ext cx="1254472" cy="9547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Авторизация супер‑админа, хранение политик доступа, проверка ролей.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2089770" y="1072604"/>
            <a:ext cx="1535460" cy="2267322"/>
          </a:xfrm>
          <a:prstGeom prst="roundRect">
            <a:avLst>
              <a:gd name="adj" fmla="val 4466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770" y="1058317"/>
            <a:ext cx="1535460" cy="5715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116" y="883221"/>
            <a:ext cx="378768" cy="3787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781744" y="1119783"/>
            <a:ext cx="151507" cy="1893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2230264" y="1388194"/>
            <a:ext cx="1254472" cy="7890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/ SuperAdmin / Admin / RegularUser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2230264" y="2244700"/>
            <a:ext cx="1254472" cy="9547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Иерархия ролей с разным набором разрешений и поведением методов.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3737670" y="1072604"/>
            <a:ext cx="1535460" cy="2267322"/>
          </a:xfrm>
          <a:prstGeom prst="roundRect">
            <a:avLst>
              <a:gd name="adj" fmla="val 4466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70" y="1058317"/>
            <a:ext cx="1535460" cy="5715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016" y="883221"/>
            <a:ext cx="378768" cy="3787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420493" y="1125736"/>
            <a:ext cx="151507" cy="1893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1"/>
          <p:cNvSpPr/>
          <p:nvPr/>
        </p:nvSpPr>
        <p:spPr>
          <a:xfrm>
            <a:off x="3878163" y="1388194"/>
            <a:ext cx="1254472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Captcha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3878163" y="1652885"/>
            <a:ext cx="1254472" cy="7637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Класс капчи для защиты от ботов при регистрации и входе.</a:t>
            </a:r>
            <a:endParaRPr lang="en-US" sz="950" dirty="0"/>
          </a:p>
        </p:txBody>
      </p:sp>
      <p:sp>
        <p:nvSpPr>
          <p:cNvPr id="22" name="Shape 13"/>
          <p:cNvSpPr/>
          <p:nvPr/>
        </p:nvSpPr>
        <p:spPr>
          <a:xfrm>
            <a:off x="441871" y="3641750"/>
            <a:ext cx="4831259" cy="1102668"/>
          </a:xfrm>
          <a:prstGeom prst="roundRect">
            <a:avLst>
              <a:gd name="adj" fmla="val 6219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71" y="3627462"/>
            <a:ext cx="4831259" cy="57150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116" y="3452366"/>
            <a:ext cx="378768" cy="3787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2781745" y="3680346"/>
            <a:ext cx="151507" cy="1893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15"/>
          <p:cNvSpPr/>
          <p:nvPr/>
        </p:nvSpPr>
        <p:spPr>
          <a:xfrm>
            <a:off x="582364" y="3957340"/>
            <a:ext cx="1578248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Logger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582364" y="4222031"/>
            <a:ext cx="4550271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Синхронная/асинхронная запись логов: входы, ошибки, действия администратора с временными метками.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26865"/>
            <a:ext cx="3292525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Отчётность и чеки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793825"/>
            <a:ext cx="4722763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 — агрегатор для хранения записей о продажах, чеках, списаниях и системных логах. Отчёты можно формировать по: периоду, поставщику, категории товара, сотруднику. Экспорт в CSV/JSON для аналитики.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860551"/>
            <a:ext cx="4722763" cy="1056010"/>
          </a:xfrm>
          <a:prstGeom prst="roundRect">
            <a:avLst>
              <a:gd name="adj" fmla="val 5638"/>
            </a:avLst>
          </a:prstGeom>
          <a:solidFill>
            <a:srgbClr val="022349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075608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037731"/>
            <a:ext cx="412030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Архитектура отчётности отделяет сбор данных (репозитории) от формирования представления (сервис отчётов).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6207"/>
            <a:ext cx="3902943" cy="16830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762" y="2690066"/>
            <a:ext cx="1589699" cy="110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Запустить: Linux/Windows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758762" y="2300474"/>
            <a:ext cx="1351431" cy="110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Собрать (g++/MSVC)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58762" y="1914816"/>
            <a:ext cx="1342638" cy="110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Настроить CMake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58762" y="1525224"/>
            <a:ext cx="1618845" cy="110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Клонировать репозиторий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96119" y="3168700"/>
            <a:ext cx="390294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Минимизирует риск конфигурационных ошибок и показывает стандартный путь от кода до запуска в двух ОС.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725463"/>
            <a:ext cx="3746971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Как собрать и запустить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49701" y="1221581"/>
            <a:ext cx="3902943" cy="1963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Клонирование: git clone https://github.com/SeniorShop/SeniorShop.git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Сборка через CMake: mkdir build &amp;&amp; cd build &amp;&amp; cmake .. &amp;&amp; cmake --build 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Прямая компиляция (пример): g++ -std=c++20 src/*.cpp -o seniorshop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Запуск: ./seniorshop (Linux) или seniorshop.exe (Windows)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49701" y="3344242"/>
            <a:ext cx="3902943" cy="1056010"/>
          </a:xfrm>
          <a:prstGeom prst="roundRect">
            <a:avLst>
              <a:gd name="adj" fmla="val 5638"/>
            </a:avLst>
          </a:prstGeom>
          <a:solidFill>
            <a:srgbClr val="4B3F0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559299"/>
            <a:ext cx="177180" cy="1417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0398" y="3521422"/>
            <a:ext cx="330048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Убедитесь, что установлен соответствующий компилятор и зависимости. Проект ориентирован только на Linux и Windows.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393" y="375047"/>
            <a:ext cx="5104209" cy="304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Ключевые выводы и дальнейшие шаги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26393" y="836563"/>
            <a:ext cx="487263" cy="859185"/>
          </a:xfrm>
          <a:prstGeom prst="roundRect">
            <a:avLst>
              <a:gd name="adj" fmla="val 36004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8644" y="1151930"/>
            <a:ext cx="182687" cy="22837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18282" y="958379"/>
            <a:ext cx="2185764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Демонстрационная ценность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018282" y="1211535"/>
            <a:ext cx="4270325" cy="3623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Проект служит учебным примером практического применения ООП в бизнес‑сервисах на C++.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6393" y="1800374"/>
            <a:ext cx="487263" cy="859185"/>
          </a:xfrm>
          <a:prstGeom prst="roundRect">
            <a:avLst>
              <a:gd name="adj" fmla="val 36004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8644" y="2115741"/>
            <a:ext cx="182687" cy="22837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18282" y="1922190"/>
            <a:ext cx="1522884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Масштабируемость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18282" y="2175346"/>
            <a:ext cx="4270325" cy="3623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Абстракции и интерфейсы упрощают расширение функционала (новые платёжные шлюзы, интеграции поставщиков).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6393" y="2764185"/>
            <a:ext cx="487263" cy="859185"/>
          </a:xfrm>
          <a:prstGeom prst="roundRect">
            <a:avLst>
              <a:gd name="adj" fmla="val 36004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8644" y="3079552"/>
            <a:ext cx="182687" cy="22837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18282" y="2886001"/>
            <a:ext cx="1522884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Рекомендации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18282" y="3139157"/>
            <a:ext cx="4270325" cy="3623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Добавить модульные тесты, CI/CD, контейнеризацию (Docker) и поддержку macOS при необходимости.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6393" y="3727996"/>
            <a:ext cx="487263" cy="1040383"/>
          </a:xfrm>
          <a:prstGeom prst="roundRect">
            <a:avLst>
              <a:gd name="adj" fmla="val 36004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8644" y="4133999"/>
            <a:ext cx="182687" cy="22837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18282" y="3849812"/>
            <a:ext cx="1522884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Репозиторий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018282" y="4102968"/>
            <a:ext cx="4270325" cy="5435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Исходный код доступен на GitHub: https://github.com/SeniorShop/SeniorShop — изучайте структуру, экспериментируйте с классами и паттернами.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4028</Words>
  <Application>WPS Presentation</Application>
  <PresentationFormat>Экран (16:9)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DejaVu Sans</vt:lpstr>
      <vt:lpstr>Instrument Sans SemiBold</vt:lpstr>
      <vt:lpstr>Kalapi</vt:lpstr>
      <vt:lpstr>Instrument Sans SemiBold</vt:lpstr>
      <vt:lpstr>Instrument Sans SemiBold</vt:lpstr>
      <vt:lpstr>Instrument Sans Medium</vt:lpstr>
      <vt:lpstr>Instrument Sans Medium</vt:lpstr>
      <vt:lpstr>Instrument Sans Medium</vt:lpstr>
      <vt:lpstr>Calibri</vt:lpstr>
      <vt:lpstr>Microsoft YaHei</vt:lpstr>
      <vt:lpstr>Droid Sans Fallback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fr1zb3e</cp:lastModifiedBy>
  <cp:revision>4</cp:revision>
  <dcterms:created xsi:type="dcterms:W3CDTF">2026-05-26T05:45:57Z</dcterms:created>
  <dcterms:modified xsi:type="dcterms:W3CDTF">2026-05-26T05:45:57Z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1049-11.1.0.11723</vt:lpwstr>
  </property>
</Properties>
</file>